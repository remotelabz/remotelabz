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" name="Picture 2" descr="cover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777240"/>
            <a:ext cx="5394960" cy="53949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85800" y="1481328"/>
            <a:ext cx="1371600" cy="54864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C39A"/>
                </a:solidFill>
                <a:latin typeface="Calibri"/>
              </a:rPr>
              <a:t>SUPPORT DE FORMATION · FUTURS DÉVELOPPEURS REMOTELABZ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6858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La messagerie RemoteLabz</a:t>
            </a:r>
          </a:p>
          <a:p>
            <a:pPr algn="l">
              <a:lnSpc>
                <a:spcPct val="100000"/>
              </a:lnSpc>
              <a:spcBef>
                <a:spcPts val="800"/>
              </a:spcBef>
            </a:pPr>
            <a:r>
              <a:rPr sz="2300" b="1" i="0">
                <a:solidFill>
                  <a:srgbClr val="FFFFFF"/>
                </a:solidFill>
                <a:latin typeface="Cambria"/>
              </a:rPr>
              <a:t>RabbitMQ &amp; Symfony Messenger :
comment le front et les workers se parlent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43484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FC9CC"/>
                </a:solidFill>
                <a:latin typeface="Calibri"/>
              </a:rPr>
              <a:t>Un clic dans le navigateur… et des machines virtuelles qui démarrent ailleurs. Suivons le message, de bout en bout : protocole, files, messages et pièges à connaître.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76072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D'après </a:t>
            </a:r>
            <a:r>
              <a:rPr sz="1200" b="1">
                <a:solidFill>
                  <a:srgbClr val="02C39A"/>
                </a:solidFill>
                <a:latin typeface="Calibri"/>
              </a:rPr>
              <a:t>doc/messenger-rabbitmq.md</a:t>
            </a:r>
            <a:r>
              <a:rPr sz="1200" b="0">
                <a:solidFill>
                  <a:srgbClr val="9FC9CC"/>
                </a:solidFill>
                <a:latin typeface="Calibri"/>
              </a:rPr>
              <a:t>  ·  open source GPL-3.0  ·  RemoteLabz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Au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Six étapes pour comprendre le dialogue entre le front et les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029967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39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Pourquoi asynchrone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651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Le problème que résolvent les files : découpler le web de l'exécution des machines virtuelles.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827" y="1783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67427" y="2029967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067" y="2039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RabbitMQ &amp; AMQP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3147" y="2651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Exchange, queue, binding, routing key : le vocabulaire indispensable, illustré.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5" y="1783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57615" y="2029967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5" y="2039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La topologie RemoteLabz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651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Deux exchanges, deux sens de circulation, une queue par worker et une file pour le front.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315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25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Le bundle partagé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4937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Six classes de messages qui font office de contrat entre les deux applications.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827" y="4069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67427" y="4315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6067" y="4325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Scénarios de bout en bout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3147" y="4937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Création d'un lab, resynchronisation, labs partagés : suivre les messages pas à pas.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5" y="4069080"/>
            <a:ext cx="3511296" cy="2103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57615" y="4315968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06255" y="4325112"/>
            <a:ext cx="255117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500" b="1" i="0">
                <a:solidFill>
                  <a:srgbClr val="16282B"/>
                </a:solidFill>
                <a:latin typeface="Cambria"/>
              </a:rPr>
              <a:t>Exploiter &amp; étendre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3336" y="4937760"/>
            <a:ext cx="2962656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B7278"/>
                </a:solidFill>
                <a:latin typeface="Calibri"/>
              </a:rPr>
              <a:t>Retries, pannes, commandes du quotidien et méthode pour ajouter un message demain.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Pourquoi des files de messages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Créer un lab prend des minutes ; une requête HTTP ne doit pas (et ne peut pas) attendre.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2962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Découplage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50" b="0" i="0">
                <a:solidFill>
                  <a:srgbClr val="5B7278"/>
                </a:solidFill>
                <a:latin typeface="Calibri"/>
              </a:rPr>
              <a:t>Le front répond vite et ne connaît pas l'état des workers. Le travail lourd part dans une file, traité à son rythme.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827" y="173736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3147" y="1965960"/>
            <a:ext cx="2962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Résilience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50" b="0" i="0">
                <a:solidFill>
                  <a:srgbClr val="5B7278"/>
                </a:solidFill>
                <a:latin typeface="Calibri"/>
              </a:rPr>
              <a:t>Le message est mémorisé et durable : un consumer qui redémarre ou un handler qui échoue peut rejouer, au lieu de tout perdre.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5" y="1737360"/>
            <a:ext cx="3511296" cy="23317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65960"/>
            <a:ext cx="2962656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28090"/>
                </a:solidFill>
                <a:latin typeface="Cambria"/>
              </a:rPr>
              <a:t>Répartition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250" b="0" i="0">
                <a:solidFill>
                  <a:srgbClr val="5B7278"/>
                </a:solidFill>
                <a:latin typeface="Calibri"/>
              </a:rPr>
              <a:t>Plusieurs workers, plusieurs machines : la routing key (l'IP du worker) envoie chaque ordre à la bonne queue, sans annuaire central.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43400"/>
            <a:ext cx="11094415" cy="173736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6227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28090"/>
                </a:solidFill>
                <a:latin typeface="Calibri"/>
              </a:rPr>
              <a:t>LE TRAJET D'UNE DEMANDE DE 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" y="4937760"/>
            <a:ext cx="1874519" cy="621792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Navigateur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543403" y="5138928"/>
            <a:ext cx="301751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03323" y="5650992"/>
            <a:ext cx="1581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B7278"/>
                </a:solidFill>
                <a:latin typeface="Calibri"/>
              </a:rPr>
              <a:t>POST /lab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0875" y="4937760"/>
            <a:ext cx="1874519" cy="621792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Front web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11115" y="5138928"/>
            <a:ext cx="301751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71035" y="5650992"/>
            <a:ext cx="1581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B7278"/>
                </a:solidFill>
                <a:latin typeface="Calibri"/>
              </a:rPr>
              <a:t>réponse HTTP immédiate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58587" y="4937760"/>
            <a:ext cx="1874519" cy="621792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File RabbitMQ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078827" y="5138928"/>
            <a:ext cx="301751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8747" y="5650992"/>
            <a:ext cx="1581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B7278"/>
                </a:solidFill>
                <a:latin typeface="Calibri"/>
              </a:rPr>
              <a:t>message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6299" y="4937760"/>
            <a:ext cx="1874519" cy="621792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46539" y="5138928"/>
            <a:ext cx="301751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06459" y="5650992"/>
            <a:ext cx="15819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5B7278"/>
                </a:solidFill>
                <a:latin typeface="Calibri"/>
              </a:rPr>
              <a:t>création des VM (minutes)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4011" y="4937760"/>
            <a:ext cx="1874519" cy="621792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Lab prêt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Les acteurs du dialogue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Quatre briques, deux applications Symfony, une seule conversation : des messages.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148840" cy="1234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9293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6282B"/>
                </a:solidFill>
                <a:latin typeface="Cambria"/>
              </a:rPr>
              <a:t>Navigateur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L'utilisateur.
Aucune installation.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965960"/>
            <a:ext cx="2377440" cy="1234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2103120"/>
            <a:ext cx="21579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6282B"/>
                </a:solidFill>
                <a:latin typeface="Cambria"/>
              </a:rPr>
              <a:t>Front web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Symfony : comptes,
BDD, API, placement.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965960"/>
            <a:ext cx="2651760" cy="1234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2103120"/>
            <a:ext cx="243230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6282B"/>
                </a:solidFill>
                <a:latin typeface="Cambria"/>
              </a:rPr>
              <a:t>RabbitMQ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Le broker AMQP :
mémorise et distribue.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965960"/>
            <a:ext cx="2587752" cy="1234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2288" y="2103120"/>
            <a:ext cx="23682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50" b="1" i="0">
                <a:solidFill>
                  <a:srgbClr val="16282B"/>
                </a:solidFill>
                <a:latin typeface="Cambria"/>
              </a:rPr>
              <a:t>Worker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Symfony + QEMU :
crée et détruit les VM.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24912" y="2468880"/>
            <a:ext cx="347472" cy="237744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513832" y="2468880"/>
            <a:ext cx="384048" cy="237744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622792" y="2468880"/>
            <a:ext cx="384048" cy="237744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42032" y="2148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HTTPS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148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AMQP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4884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AMQP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5760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822191"/>
            <a:ext cx="22128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Un simple navigateur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HTTPS vers le front uniquement. Toute la puissance est côté serveur.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3163" y="365760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82619" y="3822191"/>
            <a:ext cx="22128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L'orchestrateur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Ne fait jamais tourner de VM : il décide, enregistre les états et publie des messages.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7686" y="365760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7142" y="3822191"/>
            <a:ext cx="22128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Le facteur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Port 5672, AMQP 0-9-1. Mémorise les messages et les remet au bon consommateur.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2209" y="3657600"/>
            <a:ext cx="2651760" cy="18288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1665" y="3822191"/>
            <a:ext cx="22128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L'exécutant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Consomme les ordres, pilote QEMU et les réseaux isolés, renvoie les états.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669280"/>
            <a:ext cx="11094415" cy="603504"/>
          </a:xfrm>
          <a:prstGeom prst="roundRect">
            <a:avLst>
              <a:gd name="adj" fmla="val 7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724144"/>
            <a:ext cx="102714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 front ne parle jamais directement aux workers : tout passe par RabbitMQ.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AMQP en six mots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Le vocabulaire de RabbitMQ, illustré sur un exemple générique.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783080"/>
            <a:ext cx="2377440" cy="475488"/>
          </a:xfrm>
          <a:prstGeom prst="roundRect">
            <a:avLst>
              <a:gd name="adj" fmla="val 28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Producteur (front)</a:t>
            </a:r>
          </a:p>
        </p:txBody>
      </p:sp>
      <p:sp>
        <p:nvSpPr>
          <p:cNvPr id="8" name="Down Arrow 7"/>
          <p:cNvSpPr/>
          <p:nvPr/>
        </p:nvSpPr>
        <p:spPr>
          <a:xfrm>
            <a:off x="4983480" y="2313432"/>
            <a:ext cx="219456" cy="274320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22860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routing key = 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651760"/>
            <a:ext cx="3291840" cy="566928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EXCHANGE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3977639" y="3255264"/>
            <a:ext cx="219456" cy="25603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6035040" y="3255264"/>
            <a:ext cx="219456" cy="25603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B7278"/>
                </a:solidFill>
                <a:latin typeface="Calibri"/>
              </a:rPr>
              <a:t>binding 132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B7278"/>
                </a:solidFill>
                <a:latin typeface="Calibri"/>
              </a:rPr>
              <a:t>binding 133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3566160"/>
            <a:ext cx="1828800" cy="548640"/>
          </a:xfrm>
          <a:prstGeom prst="roundRect">
            <a:avLst>
              <a:gd name="adj" fmla="val 14000"/>
            </a:avLst>
          </a:prstGeom>
          <a:solidFill>
            <a:srgbClr val="E9F5F5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16282B"/>
                </a:solidFill>
                <a:latin typeface="Courier New"/>
              </a:rPr>
              <a:t>queue · .132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3566160"/>
            <a:ext cx="1828800" cy="548640"/>
          </a:xfrm>
          <a:prstGeom prst="roundRect">
            <a:avLst>
              <a:gd name="adj" fmla="val 14000"/>
            </a:avLst>
          </a:prstGeom>
          <a:noFill/>
          <a:ln w="15240">
            <a:solidFill>
              <a:srgbClr val="00A89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0">
                <a:solidFill>
                  <a:srgbClr val="5B7278"/>
                </a:solidFill>
                <a:latin typeface="Courier New"/>
              </a:rPr>
              <a:t>queue · .133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977639" y="4169663"/>
            <a:ext cx="219456" cy="25603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80" y="4480560"/>
            <a:ext cx="1828800" cy="502920"/>
          </a:xfrm>
          <a:prstGeom prst="roundRect">
            <a:avLst>
              <a:gd name="adj" fmla="val 20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Consommateur (worker)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0749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1">
                <a:solidFill>
                  <a:srgbClr val="5B7278"/>
                </a:solidFill>
                <a:latin typeface="Calibri"/>
              </a:rPr>
              <a:t>la queue .133 attend un consommateur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783080"/>
            <a:ext cx="4187952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Producteur</a:t>
            </a:r>
            <a:r>
              <a:rPr sz="1200" b="0">
                <a:solidFill>
                  <a:srgbClr val="16282B"/>
                </a:solidFill>
                <a:latin typeface="Calibri"/>
              </a:rPr>
              <a:t> publie un message sans savoir qui le consommera.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Exchange</a:t>
            </a:r>
            <a:r>
              <a:rPr sz="1200" b="0">
                <a:solidFill>
                  <a:srgbClr val="16282B"/>
                </a:solidFill>
                <a:latin typeface="Calibri"/>
              </a:rPr>
              <a:t> l'aiguillage central ; son type (direct, fanout…) trie les messages.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Binding</a:t>
            </a:r>
            <a:r>
              <a:rPr sz="1200" b="0">
                <a:solidFill>
                  <a:srgbClr val="16282B"/>
                </a:solidFill>
                <a:latin typeface="Calibri"/>
              </a:rPr>
              <a:t> la règle qui relie une queue à l'exchange, par clé.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Routing key</a:t>
            </a:r>
            <a:r>
              <a:rPr sz="1200" b="0">
                <a:solidFill>
                  <a:srgbClr val="16282B"/>
                </a:solidFill>
                <a:latin typeface="Calibri"/>
              </a:rPr>
              <a:t> l'adresse posée par l'émetteur : ici, l'IP du worker ciblé.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Queue</a:t>
            </a:r>
            <a:r>
              <a:rPr sz="1200" b="0">
                <a:solidFill>
                  <a:srgbClr val="16282B"/>
                </a:solidFill>
                <a:latin typeface="Calibri"/>
              </a:rPr>
              <a:t> la boîte aux lettres FIFO et durable où le message attend.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00" b="1">
                <a:solidFill>
                  <a:srgbClr val="02C39A"/>
                </a:solidFill>
                <a:latin typeface="Calibri"/>
              </a:rPr>
              <a:t>▸ </a:t>
            </a:r>
            <a:r>
              <a:rPr sz="1200" b="1">
                <a:solidFill>
                  <a:srgbClr val="028090"/>
                </a:solidFill>
                <a:latin typeface="Calibri"/>
              </a:rPr>
              <a:t>Consommateur</a:t>
            </a:r>
            <a:r>
              <a:rPr sz="1200" b="0">
                <a:solidFill>
                  <a:srgbClr val="16282B"/>
                </a:solidFill>
                <a:latin typeface="Calibri"/>
              </a:rPr>
              <a:t> le processus qui dépile : messenger:consume worker.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23560"/>
            <a:ext cx="11094415" cy="603504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678424"/>
            <a:ext cx="10271455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28090"/>
                </a:solidFill>
                <a:latin typeface="Calibri"/>
              </a:rPr>
              <a:t>Dans RemoteLabz : </a:t>
            </a:r>
            <a:r>
              <a:rPr sz="1250" b="0">
                <a:solidFill>
                  <a:srgbClr val="16282B"/>
                </a:solidFill>
                <a:latin typeface="Calibri"/>
              </a:rPr>
              <a:t>exchange worker = direct (on cible un worker par son IP) · exchange front = fanout (tout le monde reçoit, ici une seule file).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Direct ou fanout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Le type d'exchange décide qui reçoit le message. RemoteLabz utilise les deux.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394960" cy="338328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mbria"/>
              </a:rPr>
              <a:t>DIRECT — un destinataire précis</a:t>
            </a:r>
          </a:p>
          <a:p>
            <a:pPr algn="l"/>
            <a:r>
              <a:rPr sz="1050" b="0" i="0">
                <a:solidFill>
                  <a:srgbClr val="5B7278"/>
                </a:solidFill>
                <a:latin typeface="Calibri"/>
              </a:rPr>
              <a:t>la routing key choisit la queue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395728"/>
            <a:ext cx="2011680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ourier New"/>
              </a:rPr>
              <a:t>message · rk = .132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54680" y="2862072"/>
            <a:ext cx="201168" cy="237744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3127248"/>
            <a:ext cx="1371600" cy="41148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exchange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783080" y="3566160"/>
            <a:ext cx="1234440" cy="548640"/>
          </a:xfrm>
          <a:prstGeom prst="line">
            <a:avLst/>
          </a:prstGeom>
          <a:ln w="15240">
            <a:solidFill>
              <a:srgbClr val="00A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474720" y="3566160"/>
            <a:ext cx="1234439" cy="548640"/>
          </a:xfrm>
          <a:prstGeom prst="line">
            <a:avLst/>
          </a:prstGeom>
          <a:ln w="15240">
            <a:solidFill>
              <a:srgbClr val="00A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1560" y="4114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queue .132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4114800"/>
            <a:ext cx="1463040" cy="457200"/>
          </a:xfrm>
          <a:prstGeom prst="roundRect">
            <a:avLst>
              <a:gd name="adj" fmla="val 16000"/>
            </a:avLst>
          </a:prstGeom>
          <a:noFill/>
          <a:ln w="12700">
            <a:solidFill>
              <a:srgbClr val="5B72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5B7278"/>
                </a:solidFill>
                <a:latin typeface="Courier New"/>
              </a:rPr>
              <a:t>queue .133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451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6282B"/>
                </a:solidFill>
                <a:latin typeface="Calibri"/>
              </a:rPr>
              <a:t>→ ordres ciblés : InstanceActionMessage, SecurityMessage visent UN worker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9924" y="1691640"/>
            <a:ext cx="5394960" cy="338328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4244" y="182880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0A896"/>
                </a:solidFill>
                <a:latin typeface="Cambria"/>
              </a:rPr>
              <a:t>FANOUT — une copie pour toutes les queues</a:t>
            </a:r>
          </a:p>
          <a:p>
            <a:pPr algn="l"/>
            <a:r>
              <a:rPr sz="1050" b="0" i="0">
                <a:solidFill>
                  <a:srgbClr val="5B7278"/>
                </a:solidFill>
                <a:latin typeface="Calibri"/>
              </a:rPr>
              <a:t>la routing key est ignorée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3004" y="2395728"/>
            <a:ext cx="1828800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ourier New"/>
              </a:rPr>
              <a:t>message (sans adresse)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8855964" y="2862072"/>
            <a:ext cx="201168" cy="237744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61604" y="3127248"/>
            <a:ext cx="1371600" cy="41148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exchange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484364" y="3566160"/>
            <a:ext cx="1234440" cy="548640"/>
          </a:xfrm>
          <a:prstGeom prst="line">
            <a:avLst/>
          </a:prstGeom>
          <a:ln w="15240">
            <a:solidFill>
              <a:srgbClr val="00A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76004" y="3566160"/>
            <a:ext cx="1234440" cy="548640"/>
          </a:xfrm>
          <a:prstGeom prst="line">
            <a:avLst/>
          </a:prstGeom>
          <a:ln w="15240">
            <a:solidFill>
              <a:srgbClr val="00A89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52844" y="4114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queue front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8924" y="4114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ourier New"/>
              </a:rPr>
              <a:t>autres queues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244" y="464515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16282B"/>
                </a:solidFill>
                <a:latin typeface="Calibri"/>
              </a:rPr>
              <a:t>→ retours diffusés : états, logs et handshake remontent vers le front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03520"/>
            <a:ext cx="11094415" cy="77724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376672"/>
            <a:ext cx="1027145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28090"/>
                </a:solidFill>
                <a:latin typeface="Calibri"/>
              </a:rPr>
              <a:t>À retenir : </a:t>
            </a:r>
            <a:r>
              <a:rPr sz="1300" b="0">
                <a:solidFill>
                  <a:srgbClr val="16282B"/>
                </a:solidFill>
                <a:latin typeface="Calibri"/>
              </a:rPr>
              <a:t>« direct » pour cibler un worker par son IP, « fanout » pour diffuser un retour sans connaître les destinataires.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Ce qui circule : du PHP sérialisé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Avant de partir, le message est transformé en octets — pas en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" y="1874519"/>
            <a:ext cx="2331720" cy="11430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0031" y="2011680"/>
            <a:ext cx="207568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Objet PHP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InstanceActionMessage
en mémoire (front)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05175" y="2359152"/>
            <a:ext cx="384048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3695" y="2029968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serialize()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80663" y="1874519"/>
            <a:ext cx="2331720" cy="114300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8679" y="2011680"/>
            <a:ext cx="207568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Octets PHP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O:41:"Remotelabz\…"
serialize() PHP natif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03823" y="2359152"/>
            <a:ext cx="384048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2343" y="2029968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9311" y="1874519"/>
            <a:ext cx="2331720" cy="114300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011680"/>
            <a:ext cx="207568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Dans la file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AMQP · durable
RabbitMQ mémorise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02471" y="2359152"/>
            <a:ext cx="384048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0991" y="2029968"/>
            <a:ext cx="12070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028090"/>
                </a:solidFill>
                <a:latin typeface="Calibri"/>
              </a:rPr>
              <a:t>unserialize()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77959" y="1874519"/>
            <a:ext cx="2331720" cy="114300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5975" y="2011680"/>
            <a:ext cx="2075687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mbria"/>
              </a:rPr>
              <a:t>Objet PHP</a:t>
            </a:r>
          </a:p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même classe, côté worker
unserialize()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3511296" cy="246888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" y="3566160"/>
            <a:ext cx="29626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Pourquoi pas du JSON ?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Symfony Messenger utilise par défaut le sérialiseur PHP natif : fidèle et simple, mais il suppose du PHP des deux côtés (un sérialiseur JSON existe si un jour un composant non-PHP devait consommer).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38827" y="3383280"/>
            <a:ext cx="3511296" cy="246888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3147" y="3566160"/>
            <a:ext cx="29626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Conséquence n°1 : mêmes classes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Les classes de messages doivent être identiques à l'octet près des deux côtés : c'est le rôle du bundle partagé remotelabz-message-bundle (path repository Composer des deux dépôts).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5" y="3383280"/>
            <a:ext cx="3511296" cy="246888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3566160"/>
            <a:ext cx="2962656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Conséquence n°2 : ordre de déploiement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On déploie le bundle, puis les workers, puis le front. Sinon le récepteur ne sait pas décoder : « Message class … not found during decoding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La topologie RemoteLabz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Deux exchanges, deux sens de circulation : voici le plan complet.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28090"/>
                </a:solidFill>
                <a:latin typeface="Calibri"/>
              </a:rPr>
              <a:t>SENS 1 · FRONT →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39112"/>
            <a:ext cx="1828800" cy="118872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0934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Front web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039112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98648" y="2148840"/>
            <a:ext cx="21579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exchange « worker »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type direct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2039112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E9F5F5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16282B"/>
                </a:solidFill>
                <a:latin typeface="Courier New"/>
              </a:rPr>
              <a:t>queue messages_worker1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5B7278"/>
                </a:solidFill>
                <a:latin typeface="Calibri"/>
              </a:rPr>
              <a:t>binding key = IP du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2039112"/>
            <a:ext cx="2880360" cy="118872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42248" y="2148840"/>
            <a:ext cx="266090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Worker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consume worker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450592" y="2450591"/>
            <a:ext cx="292608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5230368" y="2450591"/>
            <a:ext cx="420624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8156448" y="2450591"/>
            <a:ext cx="512064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3291839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7278"/>
                </a:solidFill>
                <a:latin typeface="Calibri"/>
              </a:rPr>
              <a:t>contenu : InstanceActionMessage (ordres) · SecurityMessage (topologie des labs partagés) — routing key = IP du worker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0A896"/>
                </a:solidFill>
                <a:latin typeface="Calibri"/>
              </a:rPr>
              <a:t>SENS 2 · WORKER → FRONT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42232"/>
            <a:ext cx="1828800" cy="118872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251960"/>
            <a:ext cx="160934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Worker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dispatch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4142232"/>
            <a:ext cx="2377440" cy="118872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98648" y="4251960"/>
            <a:ext cx="215798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exchange « front »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type fanout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0" y="4142232"/>
            <a:ext cx="2377440" cy="1188720"/>
          </a:xfrm>
          <a:prstGeom prst="roundRect">
            <a:avLst>
              <a:gd name="adj" fmla="val 10000"/>
            </a:avLst>
          </a:prstGeom>
          <a:solidFill>
            <a:srgbClr val="E9F5F5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95000"/>
              </a:lnSpc>
            </a:pPr>
            <a:r>
              <a:rPr sz="1250" b="1">
                <a:solidFill>
                  <a:srgbClr val="16282B"/>
                </a:solidFill>
                <a:latin typeface="Courier New"/>
              </a:rPr>
              <a:t>queue messages_front</a:t>
            </a:r>
          </a:p>
          <a:p>
            <a:pPr algn="ctr">
              <a:lnSpc>
                <a:spcPct val="95000"/>
              </a:lnSpc>
            </a:pPr>
            <a:r>
              <a:rPr sz="950">
                <a:solidFill>
                  <a:srgbClr val="5B7278"/>
                </a:solidFill>
                <a:latin typeface="Calibri"/>
              </a:rPr>
              <a:t>une seule file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142232"/>
            <a:ext cx="2880360" cy="118872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42248" y="4251960"/>
            <a:ext cx="2660904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250" b="1" i="0">
                <a:solidFill>
                  <a:srgbClr val="FFFFFF"/>
                </a:solidFill>
                <a:latin typeface="Cambria"/>
              </a:rPr>
              <a:t>Front web</a:t>
            </a:r>
          </a:p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9FC9CC"/>
                </a:solidFill>
                <a:latin typeface="Calibri"/>
              </a:rPr>
              <a:t>consume front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50592" y="4553712"/>
            <a:ext cx="292608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5230368" y="4553712"/>
            <a:ext cx="420624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8156448" y="4553712"/>
            <a:ext cx="512064" cy="219456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539496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7278"/>
                </a:solidFill>
                <a:latin typeface="Calibri"/>
              </a:rPr>
              <a:t>contenu : InstanceStateMessage (états) · InstanceLogMessage (logs) · WorkerHandshakeMessage (présence)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89320"/>
            <a:ext cx="11094415" cy="384048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35040"/>
            <a:ext cx="103628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028090"/>
                </a:solidFill>
                <a:latin typeface="Calibri"/>
              </a:rPr>
              <a:t>À noter : </a:t>
            </a:r>
            <a:r>
              <a:rPr sz="1100" b="0">
                <a:solidFill>
                  <a:srgbClr val="5B7278"/>
                </a:solidFill>
                <a:latin typeface="Calibri"/>
              </a:rPr>
              <a:t>un troisième transport « async » (exchange messages) est déclaré mais inutilisé — aucun message ne lui est routé.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 contrat partagé : remotelabz-message-bundle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Six classes de messages, aucun code : le vocabulaire commun des deux applications.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291840" cy="37947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27432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mbria"/>
              </a:rPr>
              <a:t>Ce que c'est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✓  </a:t>
            </a:r>
            <a:r>
              <a:rPr sz="1150" b="0">
                <a:solidFill>
                  <a:srgbClr val="5B7278"/>
                </a:solidFill>
                <a:latin typeface="Calibri"/>
              </a:rPr>
              <a:t>Des DTO uniquement : des champs et des getters/setters, rien d'autre.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✓  </a:t>
            </a:r>
            <a:r>
              <a:rPr sz="1150" b="0">
                <a:solidFill>
                  <a:srgbClr val="5B7278"/>
                </a:solidFill>
                <a:latin typeface="Calibri"/>
              </a:rPr>
              <a:t>Namespace Remotelabz\Message, testé unitairement.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✓  </a:t>
            </a:r>
            <a:r>
              <a:rPr sz="1150" b="0">
                <a:solidFill>
                  <a:srgbClr val="5B7278"/>
                </a:solidFill>
                <a:latin typeface="Calibri"/>
              </a:rPr>
              <a:t>Aucune dépendance : ni Symfony, ni Doctrine, ni réseau.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✓  </a:t>
            </a:r>
            <a:r>
              <a:rPr sz="1150" b="0">
                <a:solidFill>
                  <a:srgbClr val="5B7278"/>
                </a:solidFill>
                <a:latin typeface="Calibri"/>
              </a:rPr>
              <a:t>Installé en path repository Composer dans le front ET dans le worker.</a:t>
            </a:r>
          </a:p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sz="1150" b="1" i="0">
                <a:solidFill>
                  <a:srgbClr val="028090"/>
                </a:solidFill>
                <a:latin typeface="Calibri"/>
              </a:rPr>
              <a:t>Une seule source de vérité pour les deux côtés.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7373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9385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28090"/>
                </a:solidFill>
                <a:latin typeface="Calibri"/>
              </a:rPr>
              <a:t>FRONT → WORKER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945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InstanceActionMessage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798063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16 actions : create, start, stop…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2552" y="17373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02552" y="17373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19385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28090"/>
                </a:solidFill>
                <a:latin typeface="Calibri"/>
              </a:rPr>
              <a:t>FRONT → 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1945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SecurityMessage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2798063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Topologie des labs partagés d'un groupe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4584" y="17373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44584" y="17373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27463" y="19385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A896"/>
                </a:solidFill>
                <a:latin typeface="Calibri"/>
              </a:rPr>
              <a:t>WORKER → FRONT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3" y="21945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InstanceStateMessage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3" y="2798063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Changements d'état des instances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947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60520" y="37947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39959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A896"/>
                </a:solidFill>
                <a:latin typeface="Calibri"/>
              </a:rPr>
              <a:t>WORKER → FRONT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2519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InstanceLogMessage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55464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Logs d'une instance (info, warning, error)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2552" y="37947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02552" y="37947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39959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A896"/>
                </a:solidFill>
                <a:latin typeface="Calibri"/>
              </a:rPr>
              <a:t>WORKER → FRONT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42519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WorkerHandshakeMessage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4855464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« Je suis de retour » au démarrage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44584" y="3794760"/>
            <a:ext cx="2368296" cy="17373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44584" y="3794760"/>
            <a:ext cx="2368296" cy="82296"/>
          </a:xfrm>
          <a:prstGeom prst="roundRect">
            <a:avLst>
              <a:gd name="adj" fmla="val 40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27463" y="3995928"/>
            <a:ext cx="2002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62B30"/>
                </a:solidFill>
                <a:latin typeface="Calibri"/>
              </a:rPr>
              <a:t>FRONT → FRONT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7463" y="4251960"/>
            <a:ext cx="200253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050" b="1" i="0">
                <a:solidFill>
                  <a:srgbClr val="16282B"/>
                </a:solidFill>
                <a:latin typeface="Courier New"/>
              </a:rPr>
              <a:t>LabLaunchRequestMessage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7463" y="4855464"/>
            <a:ext cx="2002536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5B7278"/>
                </a:solidFill>
                <a:latin typeface="Calibri"/>
              </a:rPr>
              <a:t>Placement d'un lab, sérialisé en interne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760720"/>
            <a:ext cx="11094415" cy="530352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806440"/>
            <a:ext cx="10362895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 i="0">
                <a:solidFill>
                  <a:srgbClr val="16282B"/>
                </a:solidFill>
                <a:latin typeface="Calibri"/>
              </a:rPr>
              <a:t>Règle : un message = une classe du bundle, jamais un tableau au hasard.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Front → worker : des ordres précis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InstanceActionMessage : le worker exécute. L'action est validée par le constructeur.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4415" cy="324612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mbria"/>
              </a:rPr>
              <a:t>InstanceActionMessage — les 16 actions possibles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12848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create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12464" y="2212848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delete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6248" y="2212848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2212848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stop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2752344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reset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12464" y="2752344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connect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6248" y="2752344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752344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export_lab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291840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export_device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12464" y="3291840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delete_device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3291840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delete_os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3291840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rename_os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3831336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copy_os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12464" y="3831336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copyfromfront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56248" y="3831336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delete_iso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00032" y="3831336"/>
            <a:ext cx="2660904" cy="41148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0">
                <a:solidFill>
                  <a:srgbClr val="02C39A"/>
                </a:solidFill>
                <a:latin typeface="Courier New"/>
              </a:rPr>
              <a:t>rename_iso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370832"/>
            <a:ext cx="104543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028090"/>
                </a:solidFill>
                <a:latin typeface="Calibri"/>
              </a:rPr>
              <a:t>Champ content : </a:t>
            </a:r>
            <a:r>
              <a:rPr sz="1050" b="0">
                <a:solidFill>
                  <a:srgbClr val="5B7278"/>
                </a:solidFill>
                <a:latin typeface="Calibri"/>
              </a:rPr>
              <a:t>JSON de l'instance (sérialisation JMS, groupe « worker ») · </a:t>
            </a:r>
            <a:r>
              <a:rPr sz="1050" b="1">
                <a:solidFill>
                  <a:srgbClr val="028090"/>
                </a:solidFill>
                <a:latin typeface="Calibri"/>
              </a:rPr>
              <a:t>uuid : </a:t>
            </a:r>
            <a:r>
              <a:rPr sz="1050" b="0">
                <a:solidFill>
                  <a:srgbClr val="5B7278"/>
                </a:solidFill>
                <a:latin typeface="Calibri"/>
              </a:rPr>
              <a:t>l'instance concernée</a:t>
            </a:r>
            <a:r>
              <a:rPr sz="1050" b="0">
                <a:solidFill>
                  <a:srgbClr val="5B7278"/>
                </a:solidFill>
                <a:latin typeface="Calibri"/>
              </a:rPr>
              <a:t>  ·  16 valeurs refusées si inconnues (InvalidArgumentException)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74920"/>
            <a:ext cx="3511296" cy="11887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93792"/>
            <a:ext cx="30540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mbria"/>
              </a:rPr>
              <a:t>Qui émet 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InstanceManager, Files2WorkerManager, LabInternetManager, ConfigWorkerController, handlers de placement et de handshake.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8827" y="5074920"/>
            <a:ext cx="3511296" cy="11887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67427" y="5193792"/>
            <a:ext cx="30540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mbria"/>
              </a:rPr>
              <a:t>Comment cibler ?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AmqpStamp(IP du worker) : la routing key choisit la queue du bon worker sur l'exchange « worker » (direct).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29015" y="5074920"/>
            <a:ext cx="3511296" cy="11887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5193792"/>
            <a:ext cx="305409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28090"/>
                </a:solidFill>
                <a:latin typeface="Cambria"/>
              </a:rPr>
              <a:t>Cas spécial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connect / disconnect : le worker agit sans renvoyer d'état — le front suit lui-même internetConnected.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Worker → front : états, logs, présence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Le worker ne rend pas la main en silence : il publie sur l'exchange front (fanout).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11296" cy="3886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65960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ourier New"/>
              </a:rPr>
              <a:t>InstanceStateMessage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0A896"/>
                </a:solidFill>
                <a:latin typeface="Calibri"/>
              </a:rPr>
              <a:t>Chaque action se termine par un état.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63240"/>
            <a:ext cx="29992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type : lab ou device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state : created, starting, started, stopping, stopped, reset, error…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options : contexte, dont l'action en échec (error).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created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47088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started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9504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8827" y="1737360"/>
            <a:ext cx="3511296" cy="3886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38827" y="173736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4859" y="1965960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ourier New"/>
              </a:rPr>
              <a:t>InstanceLogMessage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859" y="2487168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0A896"/>
                </a:solidFill>
                <a:latin typeface="Calibri"/>
              </a:rPr>
              <a:t>La vie de l'instance racontée au front.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859" y="3063240"/>
            <a:ext cx="29992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content, uuid, type (info, warning, error)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scope : public (utilisateur) ou private (admin)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→ stocké dans DeviceInstanceLog ; debug/notice restent locaux.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4859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info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37275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warning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9692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error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5" y="1737360"/>
            <a:ext cx="3511296" cy="3886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29015" y="173736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5047" y="1965960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ourier New"/>
              </a:rPr>
              <a:t>WorkerHandshakeMessage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5047" y="2487168"/>
            <a:ext cx="299923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00A896"/>
                </a:solidFill>
                <a:latin typeface="Calibri"/>
              </a:rPr>
              <a:t>« Je viens de démarrer. 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7" y="3063240"/>
            <a:ext cx="299923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id = IP du worker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émis à chaque démarrage du consumer worker</a:t>
            </a:r>
          </a:p>
          <a:p>
            <a:pPr algn="l"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 b="0">
                <a:solidFill>
                  <a:srgbClr val="5B7278"/>
                </a:solidFill>
                <a:latin typeface="Calibri"/>
              </a:rPr>
              <a:t>déclenche la resynchronisation des devices et des labs partagés.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85047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resync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27463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started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5074920"/>
            <a:ext cx="914400" cy="365760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0">
                <a:solidFill>
                  <a:srgbClr val="9FC9CC"/>
                </a:solidFill>
                <a:latin typeface="Courier New"/>
              </a:rPr>
              <a:t>purge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6282B"/>
                </a:solidFill>
                <a:latin typeface="Calibri"/>
              </a:rPr>
              <a:t>Ces trois messages arrivent dans la file messages_front, lue par le seul consumer front (systemd remotelabz.service).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La file front → front : LabLaunchRequestMessage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Une file interne au front, pour sérialiser une décision : le placement des labs.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4114800" cy="3977639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56616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  <a:latin typeface="Cambria"/>
              </a:rPr>
              <a:t>Le problème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Deux créations simultanées interrogent les stats des workers et choisissent le même « meilleur » worker : sa mémoire est réservée deux fois, sans le savoir.</a:t>
            </a:r>
          </a:p>
          <a:p>
            <a:pPr algn="l">
              <a:spcBef>
                <a:spcPts val="1400"/>
              </a:spcBef>
            </a:pPr>
            <a:r>
              <a:rPr sz="1500" b="1" i="0">
                <a:solidFill>
                  <a:srgbClr val="028090"/>
                </a:solidFill>
                <a:latin typeface="Cambria"/>
              </a:rPr>
              <a:t>La solution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1">
                <a:solidFill>
                  <a:srgbClr val="16282B"/>
                </a:solidFill>
                <a:latin typeface="Calibri"/>
              </a:rPr>
              <a:t>Une file + un seul consumer : </a:t>
            </a:r>
            <a:r>
              <a:rPr sz="1150" b="0">
                <a:solidFill>
                  <a:srgbClr val="5B7278"/>
                </a:solidFill>
                <a:latin typeface="Calibri"/>
              </a:rPr>
              <a:t>le placement du 2ᵉ attend que le 1ᵉʳ ait enregistré sa réservation mémoire dans le cache Redis (lab_placement.pending).</a:t>
            </a:r>
          </a:p>
          <a:p>
            <a:pPr algn="l">
              <a:lnSpc>
                <a:spcPct val="110000"/>
              </a:lnSpc>
              <a:spcBef>
                <a:spcPts val="1400"/>
              </a:spcBef>
            </a:pPr>
            <a:r>
              <a:rPr sz="1150" b="1" i="0">
                <a:solidFill>
                  <a:srgbClr val="028090"/>
                </a:solidFill>
                <a:latin typeface="Calibri"/>
              </a:rPr>
              <a:t>La réponse HTTP, elle, est déjà partie : la file ne bloque personne.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737360"/>
            <a:ext cx="6748272" cy="3977639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10312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ourier New"/>
              </a:rPr>
              <a:t>POST /lab (user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103120"/>
            <a:ext cx="2651760" cy="457200"/>
          </a:xfrm>
          <a:prstGeom prst="roundRect">
            <a:avLst>
              <a:gd name="adj" fmla="val 1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ourier New"/>
              </a:rPr>
              <a:t>POST /lab (user 2)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6446520" y="2606040"/>
            <a:ext cx="201168" cy="237744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0012680" y="2606040"/>
            <a:ext cx="201168" cy="237744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57800" y="2880360"/>
            <a:ext cx="621792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Front : dispatch(LabLaunchRequestMessage)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75320" y="3383280"/>
            <a:ext cx="201168" cy="25603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3703320"/>
            <a:ext cx="3657600" cy="502920"/>
          </a:xfrm>
          <a:prstGeom prst="roundRect">
            <a:avLst>
              <a:gd name="adj" fmla="val 14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queue messages_front — 1 seul consumer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275320" y="4251960"/>
            <a:ext cx="201168" cy="256032"/>
          </a:xfrm>
          <a:prstGeom prst="downArrow">
            <a:avLst>
              <a:gd name="adj1" fmla="val 45000"/>
              <a:gd name="adj2" fmla="val 5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77840" y="45720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9F5F5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6282B"/>
                </a:solidFill>
                <a:latin typeface="Calibri"/>
              </a:rPr>
              <a:t>1ᵉʳ : placement → worker 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457200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E9F5F5"/>
          </a:solidFill>
          <a:ln w="15240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16282B"/>
                </a:solidFill>
                <a:latin typeface="Calibri"/>
              </a:rPr>
              <a:t>2ᵉ : placement → worker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5166360"/>
            <a:ext cx="6217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B7278"/>
                </a:solidFill>
                <a:latin typeface="Calibri"/>
              </a:rPr>
              <a:t>→ chaque placement voit la réservation du précédent : plus de surcharge silencieuse d'un worker.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7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  <a:latin typeface="Calibri"/>
              </a:rPr>
              <a:t>Règle d'or : ne jamais lancer un second consumer front — le cache est en lecture-modification-écriture.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Scénario : créer un lab, de A à 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Suivez les flèches : chaque numéro est un message ou une étape clé.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2103120" cy="502920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Navigateur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0200" y="2194560"/>
            <a:ext cx="0" cy="3566160"/>
          </a:xfrm>
          <a:prstGeom prst="line">
            <a:avLst/>
          </a:prstGeom>
          <a:ln w="11430">
            <a:solidFill>
              <a:srgbClr val="9F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691640"/>
            <a:ext cx="2103120" cy="502920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Front (HTTP + consumer)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709160" y="2194560"/>
            <a:ext cx="0" cy="3566160"/>
          </a:xfrm>
          <a:prstGeom prst="line">
            <a:avLst/>
          </a:prstGeom>
          <a:ln w="11430">
            <a:solidFill>
              <a:srgbClr val="9F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60" y="1691640"/>
            <a:ext cx="2103120" cy="502920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File messages_front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194560"/>
            <a:ext cx="0" cy="3566160"/>
          </a:xfrm>
          <a:prstGeom prst="line">
            <a:avLst/>
          </a:prstGeom>
          <a:ln w="11430">
            <a:solidFill>
              <a:srgbClr val="9F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29800" y="1691640"/>
            <a:ext cx="2103120" cy="502920"/>
          </a:xfrm>
          <a:prstGeom prst="roundRect">
            <a:avLst>
              <a:gd name="adj" fmla="val 1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Worker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881360" y="2194560"/>
            <a:ext cx="0" cy="3566160"/>
          </a:xfrm>
          <a:prstGeom prst="line">
            <a:avLst/>
          </a:prstGeom>
          <a:ln w="11430">
            <a:solidFill>
              <a:srgbClr val="9FC9C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ight Arrow 14"/>
          <p:cNvSpPr/>
          <p:nvPr/>
        </p:nvSpPr>
        <p:spPr>
          <a:xfrm>
            <a:off x="1673352" y="2578608"/>
            <a:ext cx="29626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2311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① POST /lab — l'instance passe en « creating »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782312" y="3035808"/>
            <a:ext cx="29626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26883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② LabLaunchRequestMessage → file interne du front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4782312" y="3493008"/>
            <a:ext cx="2962656" cy="182880"/>
          </a:xfrm>
          <a:prstGeom prst="lef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0" y="31455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③ placement : meilleur worker + réservation mémoire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782312" y="3950207"/>
            <a:ext cx="602589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602735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④ InstanceActionMessage(create) + SecurityMessage — ciblés par IP</a:t>
            </a:r>
          </a:p>
        </p:txBody>
      </p:sp>
      <p:sp>
        <p:nvSpPr>
          <p:cNvPr id="23" name="Left Arrow 22"/>
          <p:cNvSpPr/>
          <p:nvPr/>
        </p:nvSpPr>
        <p:spPr>
          <a:xfrm>
            <a:off x="4782312" y="4407407"/>
            <a:ext cx="6025896" cy="182880"/>
          </a:xfrm>
          <a:prstGeom prst="lef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4059935"/>
            <a:ext cx="7543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⑤ InstanceStateMessage(created) : le lab existe sur le worker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1673352" y="4864607"/>
            <a:ext cx="2962656" cy="182880"/>
          </a:xfrm>
          <a:prstGeom prst="lef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17136"/>
            <a:ext cx="4480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16282B"/>
                </a:solidFill>
                <a:latin typeface="Calibri"/>
              </a:rPr>
              <a:t>⑥ états en base, notification — la page se rafraîchit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94360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28090"/>
                </a:solidFill>
                <a:latin typeface="Calibri"/>
              </a:rPr>
              <a:t>La réponse HTTP part dès l'étape ②</a:t>
            </a:r>
            <a:r>
              <a:rPr sz="1200" b="0">
                <a:solidFill>
                  <a:srgbClr val="5B7278"/>
                </a:solidFill>
                <a:latin typeface="Calibri"/>
              </a:rPr>
              <a:t> — la suite arrive de façon asynchrone, au fil des messages.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Cycle de vie d'un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Du dispatch() à l'acquittement : ce qui se passe réellement dans la file.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1 · dispatch()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94560" y="2084831"/>
            <a:ext cx="2194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41448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2 · serialize()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87368" y="2084831"/>
            <a:ext cx="2194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4255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3 · exchange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2084831"/>
            <a:ext cx="2194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27063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4 · queue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72983" y="2084831"/>
            <a:ext cx="2194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19871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5 · consume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765791" y="2084831"/>
            <a:ext cx="219456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12680" y="1737360"/>
            <a:ext cx="1618488" cy="868680"/>
          </a:xfrm>
          <a:prstGeom prst="roundRect">
            <a:avLst>
              <a:gd name="adj" fmla="val 14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ourier New"/>
              </a:rPr>
              <a:t>6 · handler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697480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B7278"/>
                </a:solidFill>
                <a:latin typeface="Calibri"/>
              </a:rPr>
              <a:t>enveloppe + stamps   ·   octets PHP   ·   aiguillage par routing key   ·   stockage durable   ·   dépilage   ·   exécution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3511296" cy="2377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342900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28090"/>
                </a:solidFill>
                <a:latin typeface="Cambria"/>
              </a:rPr>
              <a:t>Le handler réussit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Le message est acquitté (ack) : il est retiré de la queue. Le worker peut alors publier son InstanceStateMessage de retour.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827" y="3200400"/>
            <a:ext cx="3511296" cy="2377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38827" y="320040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3147" y="342900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0A896"/>
                </a:solidFill>
                <a:latin typeface="Cambria"/>
              </a:rPr>
              <a:t>Le handler échoue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Symfony rejoue le message automatiquement : jusqu'à 3 essais, espacés par une queue de délai (TTL + dead-letter), puis retour dans la 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9015" y="3200400"/>
            <a:ext cx="3511296" cy="237744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29015" y="3200400"/>
            <a:ext cx="3511296" cy="82296"/>
          </a:xfrm>
          <a:prstGeom prst="roundRect">
            <a:avLst>
              <a:gd name="adj" fmla="val 40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03336" y="3429000"/>
            <a:ext cx="2962656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 i="0">
                <a:solidFill>
                  <a:srgbClr val="062B30"/>
                </a:solidFill>
                <a:latin typeface="Cambria"/>
              </a:rPr>
              <a:t>Échec définitif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Worker : le message part dans l'exchange « failed » (messenger:failed:show). Front : pas de conservation — le watchdog rattrape les états bloqués.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06440"/>
            <a:ext cx="11094415" cy="5029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10362895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6282B"/>
                </a:solidFill>
                <a:latin typeface="Calibri"/>
              </a:rPr>
              <a:t>Livraison « au moins une fois » : un message peut être rejoué — d'où l'importance de handlers idempotents.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Retries &amp; échecs : les réglages réels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Chaque transport a sa politique ; les échecs définitifs ont une destination différente selon le côté.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94415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023360"/>
                <a:gridCol w="7071055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Où</a:t>
                      </a:r>
                    </a:p>
                  </a:txBody>
                  <a:tcPr marL="128016" marR="128016" marT="27432" marB="27432" anchor="ctr">
                    <a:solidFill>
                      <a:srgbClr val="02809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Politique de retry / destination des échecs</a:t>
                      </a:r>
                    </a:p>
                  </a:txBody>
                  <a:tcPr marL="128016" marR="128016" marT="27432" marB="27432" anchor="ctr">
                    <a:solidFill>
                      <a:srgbClr val="02809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82B"/>
                          </a:solidFill>
                          <a:latin typeface="Calibri"/>
                        </a:rPr>
                        <a:t>Front → worker (transport worker)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7278"/>
                          </a:solidFill>
                          <a:latin typeface="Calibri"/>
                        </a:rPr>
                        <a:t>3 essais · 5 s entre chaque · multiplicateur 1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82B"/>
                          </a:solidFill>
                          <a:latin typeface="Calibri"/>
                        </a:rPr>
                        <a:t>Worker → front (transport front)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7278"/>
                          </a:solidFill>
                          <a:latin typeface="Calibri"/>
                        </a:rPr>
                        <a:t>défaut Symfony : 3 essais · 1 s · multiplicateur 2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82B"/>
                          </a:solidFill>
                          <a:latin typeface="Calibri"/>
                        </a:rPr>
                        <a:t>Transports côté worker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7278"/>
                          </a:solidFill>
                          <a:latin typeface="Calibri"/>
                        </a:rPr>
                        <a:t>3 essais · 2 s · multiplicateur 1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82B"/>
                          </a:solidFill>
                          <a:latin typeface="Calibri"/>
                        </a:rPr>
                        <a:t>Échec définitif côté worker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7278"/>
                          </a:solidFill>
                          <a:latin typeface="Calibri"/>
                        </a:rPr>
                        <a:t>exchange AMQP « failed » (fanout) → messenger:failed:show / retry</a:t>
                      </a:r>
                    </a:p>
                  </a:txBody>
                  <a:tcPr marL="128016" marR="128016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16282B"/>
                          </a:solidFill>
                          <a:latin typeface="Calibri"/>
                        </a:rPr>
                        <a:t>Échec définitif côté front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B7278"/>
                          </a:solidFill>
                          <a:latin typeface="Calibri"/>
                        </a:rPr>
                        <a:t>transport doctrine déclaré mais non activé → message perdu ; watchdog sur les « starting »</a:t>
                      </a:r>
                    </a:p>
                  </a:txBody>
                  <a:tcPr marL="128016" marR="128016" marT="27432" marB="27432" anchor="ctr">
                    <a:solidFill>
                      <a:srgbClr val="F2F8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343400"/>
            <a:ext cx="6035040" cy="173736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498848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mbria"/>
              </a:rPr>
              <a:t>La queue de délai, comment ça marche ?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5B7278"/>
                </a:solidFill>
                <a:latin typeface="Calibri"/>
              </a:rPr>
              <a:t>Le message en échec est publié dans une queue temporaire avec un TTL et un dead-letter vers l'exchange d'origine. Après le délai, il revient tout seul dans sa file, prêt à être rejoué.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5577840"/>
            <a:ext cx="5486400" cy="384048"/>
          </a:xfrm>
          <a:prstGeom prst="roundRect">
            <a:avLst>
              <a:gd name="adj" fmla="val 28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0">
                <a:solidFill>
                  <a:srgbClr val="02C39A"/>
                </a:solidFill>
                <a:latin typeface="Courier New"/>
              </a:rPr>
              <a:t>ex. delay_worker_192.168.11.132_5000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4343400"/>
            <a:ext cx="4919472" cy="173736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498848"/>
            <a:ext cx="4389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  <a:latin typeface="Cambria"/>
              </a:rPr>
              <a:t>Dépanner sur le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937760"/>
            <a:ext cx="4389120" cy="1005840"/>
          </a:xfrm>
          <a:prstGeom prst="roundRect">
            <a:avLst>
              <a:gd name="adj" fmla="val 6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28016" bIns="128016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php bin/console messenger:failed:show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php bin/console messenger:failed:retry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Se resynchroniser : le handshake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Le front et le worker peuvent diverger (reboot, mise à jour) : au démarrage, le worker se signale.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16</a:t>
            </a:r>
          </a:p>
        </p:txBody>
      </p:sp>
      <p:sp>
        <p:nvSpPr>
          <p:cNvPr id="7" name="Oval 6"/>
          <p:cNvSpPr/>
          <p:nvPr/>
        </p:nvSpPr>
        <p:spPr>
          <a:xfrm>
            <a:off x="1389888" y="1755648"/>
            <a:ext cx="420624" cy="420624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860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17739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6282B"/>
                </a:solidFill>
                <a:latin typeface="Cambria"/>
              </a:rPr>
              <a:t>Le worker (re)démarre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la commande messenger:consume worker lance le consumer.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60903" y="2999232"/>
            <a:ext cx="164592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75887" y="175564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2860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395728"/>
            <a:ext cx="17739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6282B"/>
                </a:solidFill>
                <a:latin typeface="Cambria"/>
              </a:rPr>
              <a:t>Le worker se signale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WorkerHandshakeMessage (id = IP du worker) publié sur l'exchange front.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46904" y="2999232"/>
            <a:ext cx="164592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61888" y="175564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2860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5231" y="2395728"/>
            <a:ext cx="17739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6282B"/>
                </a:solidFill>
                <a:latin typeface="Cambria"/>
              </a:rPr>
              <a:t>Le front cherche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les device instances starting / started placées sur ce worker.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232903" y="2999232"/>
            <a:ext cx="164592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47888" y="175564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2860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71231" y="2395728"/>
            <a:ext cx="17739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6282B"/>
                </a:solidFill>
                <a:latin typeface="Cambria"/>
              </a:rPr>
              <a:t>ACTION_START ×N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un ordre de resynchronisation par device concerné.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518903" y="2999232"/>
            <a:ext cx="164592" cy="182880"/>
          </a:xfrm>
          <a:prstGeom prst="rightArrow">
            <a:avLst>
              <a:gd name="adj1" fmla="val 45000"/>
              <a:gd name="adj2" fmla="val 55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33888" y="1755648"/>
            <a:ext cx="420624" cy="420624"/>
          </a:xfrm>
          <a:prstGeom prst="ellipse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2286000"/>
            <a:ext cx="2103120" cy="16002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57232" y="2395728"/>
            <a:ext cx="1773936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 i="0">
                <a:solidFill>
                  <a:srgbClr val="16282B"/>
                </a:solidFill>
                <a:latin typeface="Cambria"/>
              </a:rPr>
              <a:t>Le worker répond</a:t>
            </a:r>
          </a:p>
          <a:p>
            <a:pPr algn="l">
              <a:lnSpc>
                <a:spcPct val="106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started si la VM tourne déjà — sans la redémarrer.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0690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42062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Pourquoi c'est sûr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Le start est idempotent : si la VM tourne déjà, elle n'est pas redémarrée — perte de données évitée. Un device déjà démarré répond started.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9924" y="4069080"/>
            <a:ext cx="5394960" cy="141732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4244" y="4206240"/>
            <a:ext cx="4846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  <a:latin typeface="Cambria"/>
              </a:rPr>
              <a:t>Et la topologie partagée ?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150" b="0" i="0">
                <a:solidFill>
                  <a:srgbClr val="5B7278"/>
                </a:solidFill>
                <a:latin typeface="Calibri"/>
              </a:rPr>
              <a:t>Le même handler resynchronise les SecurityMessage des groupes concernés : les règles iptables/routes perdues au reboot sont réappliquées.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669280"/>
            <a:ext cx="11094415" cy="548640"/>
          </a:xfrm>
          <a:prstGeom prst="roundRect">
            <a:avLst>
              <a:gd name="adj" fmla="val 7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24144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Le handshake, c'est le « je suis de retour » du worker : tout le rattrapage part de là.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Les labs partagés : une topologie par groupe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SecurityMessage transporte un état complet, calculé par le front, appliqué par chaque worker.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28016" bIns="128016"/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{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9FC9CC"/>
                </a:solidFill>
                <a:latin typeface="Courier New"/>
              </a:rPr>
              <a:t>  "group": "3f2b9c1e-…",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9FC9CC"/>
                </a:solidFill>
                <a:latin typeface="Courier New"/>
              </a:rPr>
              <a:t>  "links": [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    { "a": { "uuid": "…", "network": "10.11.0.0/24",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             "workerIp": "192.168.11.132" },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      "b": { "uuid": "…", "network": "10.11.1.0/24",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             "workerIp": "192.168.11.133" } } ]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468112" cy="265176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01952"/>
            <a:ext cx="49377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✓  </a:t>
            </a:r>
            <a:r>
              <a:rPr sz="1100" b="0">
                <a:solidFill>
                  <a:srgbClr val="5B7278"/>
                </a:solidFill>
                <a:latin typeface="Calibri"/>
              </a:rPr>
              <a:t>Le front calcule la topologie du groupe (règles de partage + instances actives).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✓  </a:t>
            </a:r>
            <a:r>
              <a:rPr sz="1100" b="0">
                <a:solidFill>
                  <a:srgbClr val="5B7278"/>
                </a:solidFill>
                <a:latin typeface="Calibri"/>
              </a:rPr>
              <a:t>Un message par groupe ET par worker disponible, ciblé par IP.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✓  </a:t>
            </a:r>
            <a:r>
              <a:rPr sz="1100" b="0">
                <a:solidFill>
                  <a:srgbClr val="5B7278"/>
                </a:solidFill>
                <a:latin typeface="Calibri"/>
              </a:rPr>
              <a:t>Le worker remplace l'entrée de ce groupe ; l'état global est l'union de tous les groupes.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✓  </a:t>
            </a:r>
            <a:r>
              <a:rPr sz="1100" b="0">
                <a:solidFill>
                  <a:srgbClr val="5B7278"/>
                </a:solidFill>
                <a:latin typeface="Calibri"/>
              </a:rPr>
              <a:t>links: [] = « aucun lab partagé dans ce groupe » → purge des règles et routes.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100" b="1">
                <a:solidFill>
                  <a:srgbClr val="02C39A"/>
                </a:solidFill>
                <a:latin typeface="Calibri"/>
              </a:rPr>
              <a:t>✓  </a:t>
            </a:r>
            <a:r>
              <a:rPr sz="1100" b="0">
                <a:solidFill>
                  <a:srgbClr val="5B7278"/>
                </a:solidFill>
                <a:latin typeface="Calibri"/>
              </a:rPr>
              <a:t>Liens non orientés : le worker génère les deux sens (ACCEPT iptables).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1772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473659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Qui déclenche ?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00" b="0" i="0">
                <a:solidFill>
                  <a:srgbClr val="5B7278"/>
                </a:solidFill>
                <a:latin typeface="Calibri"/>
              </a:rPr>
              <a:t>Placement d'un lab, start/stop de device, suppression d'instance, modification d'une règle de partage, retrait d'un lab d'un groupe, handshake worker.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9924" y="4617720"/>
            <a:ext cx="5394960" cy="1234440"/>
          </a:xfrm>
          <a:prstGeom prst="roundRect">
            <a:avLst>
              <a:gd name="adj" fmla="val 7000"/>
            </a:avLst>
          </a:prstGeom>
          <a:solidFill>
            <a:srgbClr val="E9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4244" y="4736592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28090"/>
                </a:solidFill>
                <a:latin typeface="Cambria"/>
              </a:rPr>
              <a:t>Pourquoi des messages complets ?</a:t>
            </a:r>
          </a:p>
          <a:p>
            <a:pPr algn="l">
              <a:lnSpc>
                <a:spcPct val="108000"/>
              </a:lnSpc>
              <a:spcBef>
                <a:spcPts val="400"/>
              </a:spcBef>
            </a:pPr>
            <a:r>
              <a:rPr sz="1100" b="0" i="0">
                <a:solidFill>
                  <a:srgbClr val="5B7278"/>
                </a:solidFill>
                <a:latin typeface="Calibri"/>
              </a:rPr>
              <a:t>Un état entier par groupe est idempotent : reçu en double ou rejoué, le worker reconstruit exactement les mêmes règles — et les groupes ne s'écrasent jamais entre eux.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Au quotidien : consommer, inspecter, dépanner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188720" cy="502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C9CC"/>
                </a:solidFill>
                <a:latin typeface="Calibri"/>
              </a:rPr>
              <a:t>Les trois réflexes de l'exploitant (et du développeur en debug).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C9CC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C9CC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6035040" cy="3977639"/>
          </a:xfrm>
          <a:prstGeom prst="roundRect">
            <a:avLst>
              <a:gd name="adj" fmla="val 6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28016" bIns="128016"/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9FC9CC"/>
                </a:solidFill>
                <a:latin typeface="Courier New"/>
              </a:rPr>
              <a:t># Front — consomme la file messages_front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php bin/console messenger:consume front \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    --time-limit=3600 --memory-limit=128M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9FC9CC"/>
                </a:solidFill>
                <a:latin typeface="Courier New"/>
              </a:rPr>
              <a:t># Worker — consomme messages_worker1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php bin/console messenger:consume worker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9FC9CC"/>
                </a:solidFill>
                <a:latin typeface="Courier New"/>
              </a:rPr>
              <a:t># Arrêt propre après un déploiement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php bin/console messenger:stop-workers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9FC9CC"/>
                </a:solidFill>
                <a:latin typeface="Courier New"/>
              </a:rPr>
              <a:t># Inspection RabbitMQ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rabbitmqctl list_queues name messages consumers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FFFFFF"/>
                </a:solidFill>
                <a:latin typeface="Courier New"/>
              </a:rPr>
              <a:t>rabbitmqctl list_bindings source_name destination_name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691640"/>
            <a:ext cx="4553712" cy="192024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856232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mbria"/>
              </a:rPr>
              <a:t>Les services systemd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9FC9CC"/>
                </a:solidFill>
                <a:latin typeface="Calibri"/>
              </a:rPr>
              <a:t>remotelabz.service → consume front
remotelabz-worker.service → consume worker
Les deux appellent stop-workers à l'arrêt.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749039"/>
            <a:ext cx="4553712" cy="192024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3913631"/>
            <a:ext cx="40233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2C39A"/>
                </a:solidFill>
                <a:latin typeface="Cambria"/>
              </a:rPr>
              <a:t>Un échec ? Suivez le fil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150" b="0" i="0">
                <a:solidFill>
                  <a:srgbClr val="9FC9CC"/>
                </a:solidFill>
                <a:latin typeface="Calibri"/>
              </a:rPr>
              <a:t>1. La queue (rabbitmqctl list_queues)
2. Les logs des consumers (front ET worker)
3. messenger:failed:show côté worker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943600"/>
            <a:ext cx="11094415" cy="41148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80176"/>
            <a:ext cx="10362895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Un seul consumer front à la fois — et on vérifie les deux journaux de logs.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Les pièges classiques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Ce qui fait perdre une heure la première fois — à connaître avant de toucher au code.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01952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Un seul consumer front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Le cache de placement est en lecture-modification-écriture : deux consumers concurrents écrasent leurs réservations. Jamais un second messenger:consume front à la main en plus du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827" y="1737360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38827" y="1737360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4859" y="1901952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La routing key, c'est l'IP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Nouvelle machine = nouvelle queue et nouveau binding (messages_workerN ← IP) à déclarer dans LES DEUX configs. Sinon le message part dans le vide.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9015" y="1737360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9015" y="1737360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7" y="1901952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Mêmes classes partout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La sérialisation est du PHP natif : déployer le bundle d'abord, les workers ensuite, le front en dernier. Un récepteur plus ancien échoue au décodage.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977639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142231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L'ordre est garanti par queue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Vers un même worker, create → start → connect partent dans cet ordre sur la même queue : le worker les exécute dans l'ordre d'émission (FIFO).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8827" y="3977639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38827" y="3977639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4859" y="4142231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Idempotence obligatoire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Un message peut être rejoué (retry, redelivery). « Déjà placé → je passe », « déjà démarré → je réponds started » : vos handlers doivent survivre au doublon.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9015" y="3977639"/>
            <a:ext cx="3511296" cy="20574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29015" y="3977639"/>
            <a:ext cx="64008" cy="2057400"/>
          </a:xfrm>
          <a:prstGeom prst="roundRect">
            <a:avLst>
              <a:gd name="adj" fmla="val 40000"/>
            </a:avLst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85047" y="4142231"/>
            <a:ext cx="3035808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16282B"/>
                </a:solidFill>
                <a:latin typeface="Cambria"/>
              </a:rPr>
              <a:t>Le front perd ses échecs définitifs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1050" b="0" i="0">
                <a:solidFill>
                  <a:srgbClr val="5B7278"/>
                </a:solidFill>
                <a:latin typeface="Calibri"/>
              </a:rPr>
              <a:t>Pas de failure transport activé côté front : après les retries, c'est perdu. Le watchdog ReconcileStartingInstancesCommand rattrape les devices bloqués en starting.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Ajouter un message demain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B7278"/>
                </a:solidFill>
                <a:latin typeface="Calibri"/>
              </a:rPr>
              <a:t>La méthode complète, dans l'ordre — cinq étapes et une règle d'or.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B7278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5B7278"/>
                </a:solidFill>
                <a:latin typeface="Calibr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10128"/>
            <a:ext cx="10515600" cy="41148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103120" cy="13716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11095"/>
            <a:ext cx="1737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6282B"/>
                </a:solidFill>
                <a:latin typeface="Cambria"/>
              </a:rPr>
              <a:t>Définir le DTO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Dans le bundle (Message/MonMessage.php) + un test unitaire, comme les six existants.</a:t>
            </a:r>
          </a:p>
        </p:txBody>
      </p:sp>
      <p:sp>
        <p:nvSpPr>
          <p:cNvPr id="10" name="Oval 9"/>
          <p:cNvSpPr/>
          <p:nvPr/>
        </p:nvSpPr>
        <p:spPr>
          <a:xfrm>
            <a:off x="1325880" y="305409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86484" y="3154680"/>
            <a:ext cx="27432" cy="173735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88336" y="3520440"/>
            <a:ext cx="2103120" cy="13716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71216" y="3648456"/>
            <a:ext cx="1737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6282B"/>
                </a:solidFill>
                <a:latin typeface="Cambria"/>
              </a:rPr>
              <a:t>Router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Ajouter la classe au framework.messenger.routing du projet émetteur, vers le bon transport.</a:t>
            </a:r>
          </a:p>
        </p:txBody>
      </p:sp>
      <p:sp>
        <p:nvSpPr>
          <p:cNvPr id="14" name="Oval 13"/>
          <p:cNvSpPr/>
          <p:nvPr/>
        </p:nvSpPr>
        <p:spPr>
          <a:xfrm>
            <a:off x="3465576" y="305409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26180" y="3584448"/>
            <a:ext cx="27432" cy="-822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28031" y="1783080"/>
            <a:ext cx="2103120" cy="13716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10912" y="1911095"/>
            <a:ext cx="1737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6282B"/>
                </a:solidFill>
                <a:latin typeface="Cambria"/>
              </a:rPr>
              <a:t>Écrire le handler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Côté récepteur, en AsMessageHandler. Idempotent dès le premier jour.</a:t>
            </a:r>
          </a:p>
        </p:txBody>
      </p:sp>
      <p:sp>
        <p:nvSpPr>
          <p:cNvPr id="18" name="Oval 17"/>
          <p:cNvSpPr/>
          <p:nvPr/>
        </p:nvSpPr>
        <p:spPr>
          <a:xfrm>
            <a:off x="5605272" y="305409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65876" y="3154680"/>
            <a:ext cx="27432" cy="173735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967727" y="3520440"/>
            <a:ext cx="2103120" cy="13716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7" y="3648456"/>
            <a:ext cx="1737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6282B"/>
                </a:solidFill>
                <a:latin typeface="Cambria"/>
              </a:rPr>
              <a:t>Penser l'échec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Que faire si l'action échoue ? Un état error ? Des options de contexte ? Un test ?</a:t>
            </a:r>
          </a:p>
        </p:txBody>
      </p:sp>
      <p:sp>
        <p:nvSpPr>
          <p:cNvPr id="22" name="Oval 21"/>
          <p:cNvSpPr/>
          <p:nvPr/>
        </p:nvSpPr>
        <p:spPr>
          <a:xfrm>
            <a:off x="7744967" y="305409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5571" y="3584448"/>
            <a:ext cx="27432" cy="-82296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1783080"/>
            <a:ext cx="2103120" cy="1371600"/>
          </a:xfrm>
          <a:prstGeom prst="roundRect">
            <a:avLst>
              <a:gd name="adj" fmla="val 7000"/>
            </a:avLst>
          </a:prstGeom>
          <a:solidFill>
            <a:srgbClr val="F2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1911095"/>
            <a:ext cx="1737360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1300" b="1" i="0">
                <a:solidFill>
                  <a:srgbClr val="16282B"/>
                </a:solidFill>
                <a:latin typeface="Cambria"/>
              </a:rPr>
              <a:t>Déployer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000" b="0" i="0">
                <a:solidFill>
                  <a:srgbClr val="5B7278"/>
                </a:solidFill>
                <a:latin typeface="Calibri"/>
              </a:rPr>
              <a:t>Bundle → workers → front, puis messenger:stop-workers et vérification des files.</a:t>
            </a:r>
          </a:p>
        </p:txBody>
      </p:sp>
      <p:sp>
        <p:nvSpPr>
          <p:cNvPr id="26" name="Oval 25"/>
          <p:cNvSpPr/>
          <p:nvPr/>
        </p:nvSpPr>
        <p:spPr>
          <a:xfrm>
            <a:off x="9875519" y="3054096"/>
            <a:ext cx="548640" cy="548640"/>
          </a:xfrm>
          <a:prstGeom prst="ellips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36124" y="3154680"/>
            <a:ext cx="27432" cy="173735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7000"/>
            </a:avLst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303520"/>
            <a:ext cx="1027145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2C39A"/>
                </a:solidFill>
                <a:latin typeface="Calibri"/>
              </a:rPr>
              <a:t>Règle d'or : </a:t>
            </a:r>
            <a:r>
              <a:rPr sz="1300" b="0">
                <a:solidFill>
                  <a:srgbClr val="FFFFFF"/>
                </a:solidFill>
                <a:latin typeface="Calibri"/>
              </a:rPr>
              <a:t>toujours se demander « et si ce message arrivait deux fois ? » — et garder le bundle comme unique contrat entre les applications.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2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mbria"/>
              </a:rPr>
              <a:t>Pour aller plus loin — et à vous de jouer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42415"/>
            <a:ext cx="1188720" cy="50292"/>
          </a:xfrm>
          <a:prstGeom prst="rect">
            <a:avLst/>
          </a:prstGeom>
          <a:solidFill>
            <a:srgbClr val="02C3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25296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C9CC"/>
                </a:solidFill>
                <a:latin typeface="Calibri"/>
              </a:rPr>
              <a:t>Tout est dans le dépôt : lisez, lancez un consumer, suivez un message.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FC9CC"/>
                </a:solidFill>
                <a:latin typeface="Calibri"/>
              </a:rPr>
              <a:t>RemoteLabz · La messagerie front ↔ worker — support de 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437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FC9CC"/>
                </a:solidFill>
                <a:latin typeface="Calibri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5376672" cy="338328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mbria"/>
              </a:rPr>
              <a:t>Documents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doc/messenger-rabbitmq.md</a:t>
            </a:r>
            <a:r>
              <a:rPr sz="1150" b="0">
                <a:solidFill>
                  <a:srgbClr val="9FC9CC"/>
                </a:solidFill>
                <a:latin typeface="Calibri"/>
              </a:rPr>
              <a:t>
     la référence complète de ce support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README-LabPlacement.md</a:t>
            </a:r>
            <a:r>
              <a:rPr sz="1150" b="0">
                <a:solidFill>
                  <a:srgbClr val="9FC9CC"/>
                </a:solidFill>
                <a:latin typeface="Calibri"/>
              </a:rPr>
              <a:t>
     placement des labs et cache mémoire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doc/start-resync-state-started.md</a:t>
            </a:r>
            <a:r>
              <a:rPr sz="1150" b="0">
                <a:solidFill>
                  <a:srgbClr val="9FC9CC"/>
                </a:solidFill>
                <a:latin typeface="Calibri"/>
              </a:rPr>
              <a:t>
     analyse des pertes et resynchronisation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▸  </a:t>
            </a:r>
            <a:r>
              <a:rPr sz="1150" b="1">
                <a:solidFill>
                  <a:srgbClr val="FFFFFF"/>
                </a:solidFill>
                <a:latin typeface="Calibri"/>
              </a:rPr>
              <a:t>shared-labs-message-bundle-plan.md</a:t>
            </a:r>
            <a:r>
              <a:rPr sz="1150" b="0">
                <a:solidFill>
                  <a:srgbClr val="9FC9CC"/>
                </a:solidFill>
                <a:latin typeface="Calibri"/>
              </a:rPr>
              <a:t>
     le contrat des labs partagés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376672" cy="3383280"/>
          </a:xfrm>
          <a:prstGeom prst="roundRect">
            <a:avLst>
              <a:gd name="adj" fmla="val 7000"/>
            </a:avLst>
          </a:prstGeom>
          <a:solidFill>
            <a:srgbClr val="0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2C39A"/>
                </a:solidFill>
                <a:latin typeface="Cambria"/>
              </a:rPr>
              <a:t>Code à lire (dans l'ordre)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1.  </a:t>
            </a:r>
            <a:r>
              <a:rPr sz="1150" b="0">
                <a:solidFill>
                  <a:srgbClr val="FFFFFF"/>
                </a:solidFill>
                <a:latin typeface="Calibri"/>
              </a:rPr>
              <a:t>config/packages/messenger.yaml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2.  </a:t>
            </a:r>
            <a:r>
              <a:rPr sz="1150" b="0">
                <a:solidFill>
                  <a:srgbClr val="FFFFFF"/>
                </a:solidFill>
                <a:latin typeface="Calibri"/>
              </a:rPr>
              <a:t>lib/remotelabz-message-bundle/Message/*.php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3.  </a:t>
            </a:r>
            <a:r>
              <a:rPr sz="1150" b="0">
                <a:solidFill>
                  <a:srgbClr val="FFFFFF"/>
                </a:solidFill>
                <a:latin typeface="Calibri"/>
              </a:rPr>
              <a:t>src/MessageHandler/*.php (front)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1">
                <a:solidFill>
                  <a:srgbClr val="02C39A"/>
                </a:solidFill>
                <a:latin typeface="Calibri"/>
              </a:rPr>
              <a:t>4.  </a:t>
            </a:r>
            <a:r>
              <a:rPr sz="1150" b="0">
                <a:solidFill>
                  <a:srgbClr val="FFFFFF"/>
                </a:solidFill>
                <a:latin typeface="Calibri"/>
              </a:rPr>
              <a:t>src/Service/SharedLabSecurityManager.php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754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FC9CC"/>
                </a:solidFill>
                <a:latin typeface="Calibri"/>
              </a:rPr>
              <a:t>Exercice : en dev, lancez messenger:consume front -vv, créez un lab, puis retrouvez chaque message traversé dans les logs.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94960"/>
            <a:ext cx="11094415" cy="731520"/>
          </a:xfrm>
          <a:prstGeom prst="roundRect">
            <a:avLst>
              <a:gd name="adj" fmla="val 7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486400"/>
            <a:ext cx="1027145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Le réflexe à garder : un problème ? Suivez le message — de la queue jusqu'au handler.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